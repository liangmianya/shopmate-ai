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34c2b0a1ca4ec8" /><Relationship Type="http://schemas.openxmlformats.org/officeDocument/2006/relationships/extended-properties" Target="/docProps/app.xml" Id="R1e688d2dffd54fa6" /><Relationship Type="http://schemas.openxmlformats.org/officeDocument/2006/relationships/officeDocument" Target="/ppt/presentation.xml" Id="R556aca6eed0341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0bf60799fc4236"/>
  </p:sldMasterIdLst>
  <p:notesMasterIdLst>
    <p:notesMasterId xmlns:r="http://schemas.openxmlformats.org/officeDocument/2006/relationships" r:id="R6b1b81e84d604b69"/>
  </p:notesMasterIdLst>
  <p:sldIdLst>
    <p:sldId xmlns:r="http://schemas.openxmlformats.org/officeDocument/2006/relationships" id="256" r:id="Red73f93919894e19"/>
    <p:sldId xmlns:r="http://schemas.openxmlformats.org/officeDocument/2006/relationships" id="257" r:id="R53a9170191414b8d"/>
    <p:sldId xmlns:r="http://schemas.openxmlformats.org/officeDocument/2006/relationships" id="258" r:id="R1252ae6dc0764ad7"/>
    <p:sldId xmlns:r="http://schemas.openxmlformats.org/officeDocument/2006/relationships" id="259" r:id="R1c1751c7f4274809"/>
    <p:sldId xmlns:r="http://schemas.openxmlformats.org/officeDocument/2006/relationships" id="260" r:id="R9ea25509b29c425e"/>
    <p:sldId xmlns:r="http://schemas.openxmlformats.org/officeDocument/2006/relationships" id="261" r:id="Rc7e8ce63989a4b68"/>
    <p:sldId xmlns:r="http://schemas.openxmlformats.org/officeDocument/2006/relationships" id="262" r:id="R62fd15070c6f458a"/>
    <p:sldId xmlns:r="http://schemas.openxmlformats.org/officeDocument/2006/relationships" id="263" r:id="R40524fd0f224403b"/>
    <p:sldId xmlns:r="http://schemas.openxmlformats.org/officeDocument/2006/relationships" id="264" r:id="R6a17edcef6a846e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0669221e994b2a" /><Relationship Type="http://schemas.openxmlformats.org/officeDocument/2006/relationships/slideMaster" Target="/ppt/slideMasters/slideMaster1.xml" Id="Re30bf60799fc4236" /><Relationship Type="http://schemas.openxmlformats.org/officeDocument/2006/relationships/notesMaster" Target="/ppt/notesMasters/notesMaster1.xml" Id="R6b1b81e84d604b69" /><Relationship Type="http://schemas.openxmlformats.org/officeDocument/2006/relationships/presProps" Target="/ppt/presProps.xml" Id="R7d38925fab124377" /><Relationship Type="http://schemas.openxmlformats.org/officeDocument/2006/relationships/tableStyles" Target="/ppt/tableStyles.xml" Id="R543003602b244b6a" /><Relationship Type="http://schemas.openxmlformats.org/officeDocument/2006/relationships/slide" Target="/ppt/slides/slide1.xml" Id="Red73f93919894e19" /><Relationship Type="http://schemas.openxmlformats.org/officeDocument/2006/relationships/slide" Target="/ppt/slides/slide2.xml" Id="R53a9170191414b8d" /><Relationship Type="http://schemas.openxmlformats.org/officeDocument/2006/relationships/slide" Target="/ppt/slides/slide3.xml" Id="R1252ae6dc0764ad7" /><Relationship Type="http://schemas.openxmlformats.org/officeDocument/2006/relationships/slide" Target="/ppt/slides/slide4.xml" Id="R1c1751c7f4274809" /><Relationship Type="http://schemas.openxmlformats.org/officeDocument/2006/relationships/slide" Target="/ppt/slides/slide5.xml" Id="R9ea25509b29c425e" /><Relationship Type="http://schemas.openxmlformats.org/officeDocument/2006/relationships/slide" Target="/ppt/slides/slide6.xml" Id="Rc7e8ce63989a4b68" /><Relationship Type="http://schemas.openxmlformats.org/officeDocument/2006/relationships/slide" Target="/ppt/slides/slide7.xml" Id="R62fd15070c6f458a" /><Relationship Type="http://schemas.openxmlformats.org/officeDocument/2006/relationships/slide" Target="/ppt/slides/slide8.xml" Id="R40524fd0f224403b" /><Relationship Type="http://schemas.openxmlformats.org/officeDocument/2006/relationships/slide" Target="/ppt/slides/slide9.xml" Id="R6a17edcef6a846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8c81e4ddf241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6047304e4140a1" /><Relationship Type="http://schemas.openxmlformats.org/officeDocument/2006/relationships/notesMaster" Target="/ppt/notesMasters/notesMaster1.xml" Id="Rb94b6f82603b46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c5b101085e4a1f" /><Relationship Type="http://schemas.openxmlformats.org/officeDocument/2006/relationships/notesMaster" Target="/ppt/notesMasters/notesMaster1.xml" Id="Rc1e130bcb7364a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10870cdd794764" /><Relationship Type="http://schemas.openxmlformats.org/officeDocument/2006/relationships/notesMaster" Target="/ppt/notesMasters/notesMaster1.xml" Id="Rb95bfd5b04c845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7e14ec33d741e2" /><Relationship Type="http://schemas.openxmlformats.org/officeDocument/2006/relationships/notesMaster" Target="/ppt/notesMasters/notesMaster1.xml" Id="R52ca29f0b5044e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2ab565edf04524" /><Relationship Type="http://schemas.openxmlformats.org/officeDocument/2006/relationships/notesMaster" Target="/ppt/notesMasters/notesMaster1.xml" Id="Rb9845cdac8a94b8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ae6eaba40140b9" /><Relationship Type="http://schemas.openxmlformats.org/officeDocument/2006/relationships/notesMaster" Target="/ppt/notesMasters/notesMaster1.xml" Id="R395482d0d0ee47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2ddd1c2a2c49c8" /><Relationship Type="http://schemas.openxmlformats.org/officeDocument/2006/relationships/notesMaster" Target="/ppt/notesMasters/notesMaster1.xml" Id="Rfe49fd316f1244a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8ce66ef6184ca6" /><Relationship Type="http://schemas.openxmlformats.org/officeDocument/2006/relationships/notesMaster" Target="/ppt/notesMasters/notesMaster1.xml" Id="Re245a38a883240d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73b7cfb637041ba" /><Relationship Type="http://schemas.openxmlformats.org/officeDocument/2006/relationships/notesMaster" Target="/ppt/notesMasters/notesMaster1.xml" Id="R0af0fb029be046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开场页：建立产品定位，强调这不是单一聊天机器人，而是面向客服与运营的一体化 Agent 工作台。</a:t>
            </a:r>
          </a:p>
          <a:p xmlns:a="http://schemas.openxmlformats.org/drawingml/2006/main">
            <a:r>
              <a:t>[Sources] 本页内容基于当前项目代码结构、已生成的 ShopMate AI Word 产品资料，以及本地仓库中的 backend/src/services 与 routes 文件。未使用外部市场数据或第三方统计。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问题页：从客服质量、商品资料和后台效率三个断点切入。</a:t>
            </a:r>
          </a:p>
          <a:p xmlns:a="http://schemas.openxmlformats.org/drawingml/2006/main">
            <a:r>
              <a:t>[Sources] 本页内容基于当前项目代码结构、已生成的 ShopMate AI Word 产品资料，以及本地仓库中的 backend/src/services 与 routes 文件。未使用外部市场数据或第三方统计。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产品答案页：讲清楚系统不是单点能力，而是客服、Agent、渠道与数据的组合。</a:t>
            </a:r>
          </a:p>
          <a:p xmlns:a="http://schemas.openxmlformats.org/drawingml/2006/main">
            <a:r>
              <a:t>[Sources] 本页内容基于当前项目代码结构、已生成的 ShopMate AI Word 产品资料，以及本地仓库中的 backend/src/services 与 routes 文件。未使用外部市场数据或第三方统计。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客服 Agent 页：说明 ReAct 式工具循环，以及这次修复的关键思想：工具在模型内部行动空间中。</a:t>
            </a:r>
          </a:p>
          <a:p xmlns:a="http://schemas.openxmlformats.org/drawingml/2006/main">
            <a:r>
              <a:t>[Sources] 本页内容基于当前项目代码结构、已生成的 ShopMate AI Word 产品资料，以及本地仓库中的 backend/src/services 与 routes 文件。未使用外部市场数据或第三方统计。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运营 Agent 页：强调后台任务执行、可观测、可确认，不是普通文本生成。</a:t>
            </a:r>
          </a:p>
          <a:p xmlns:a="http://schemas.openxmlformats.org/drawingml/2006/main">
            <a:r>
              <a:t>[Sources] 本页内容基于当前项目代码结构、已生成的 ShopMate AI Word 产品资料，以及本地仓库中的 backend/src/services 与 routes 文件。未使用外部市场数据或第三方统计。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架构页：用两条 lane 展示客服和运营的分工，以及共享的数据底座。</a:t>
            </a:r>
          </a:p>
          <a:p xmlns:a="http://schemas.openxmlformats.org/drawingml/2006/main">
            <a:r>
              <a:t>[Sources] 本页内容基于当前项目代码结构、已生成的 ShopMate AI Word 产品资料，以及本地仓库中的 backend/src/services 与 routes 文件。未使用外部市场数据或第三方统计。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应用场景页：给售前沟通提供可快速代入的使用场景。</a:t>
            </a:r>
          </a:p>
          <a:p xmlns:a="http://schemas.openxmlformats.org/drawingml/2006/main">
            <a:r>
              <a:t>[Sources] 本页内容基于当前项目代码结构、已生成的 ShopMate AI Word 产品资料，以及本地仓库中的 backend/src/services 与 routes 文件。未使用外部市场数据或第三方统计。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落地路径页：避免一次性大而全实施，强调灰度和资料先行。</a:t>
            </a:r>
          </a:p>
          <a:p xmlns:a="http://schemas.openxmlformats.org/drawingml/2006/main">
            <a:r>
              <a:t>[Sources] 本页内容基于当前项目代码结构、已生成的 ShopMate AI Word 产品资料，以及本地仓库中的 backend/src/services 与 routes 文件。未使用外部市场数据或第三方统计。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结尾页：把销售动作落到可执行的试点演示，而不是泛泛感谢。</a:t>
            </a:r>
          </a:p>
          <a:p xmlns:a="http://schemas.openxmlformats.org/drawingml/2006/main">
            <a:r>
              <a:t>[Sources] 本页内容基于当前项目代码结构、已生成的 ShopMate AI Word 产品资料，以及本地仓库中的 backend/src/services 与 routes 文件。未使用外部市场数据或第三方统计。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467acf0cdd4a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87f749443c40a9" /><Relationship Type="http://schemas.openxmlformats.org/officeDocument/2006/relationships/slideLayout" Target="/ppt/slideLayouts/slideLayout1.xml" Id="Rcda5f1b5fc2148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a5f1b5fc2148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5b6132659d4639" /><Relationship Type="http://schemas.openxmlformats.org/officeDocument/2006/relationships/notesSlide" Target="/ppt/notesSlides/notesSlide1.xml" Id="R33c8f2d5aa8a4e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c4155379624589" /><Relationship Type="http://schemas.openxmlformats.org/officeDocument/2006/relationships/notesSlide" Target="/ppt/notesSlides/notesSlide2.xml" Id="R44a757dde51144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9ddfa9b6044311" /><Relationship Type="http://schemas.openxmlformats.org/officeDocument/2006/relationships/notesSlide" Target="/ppt/notesSlides/notesSlide3.xml" Id="R39dc90ccc10d4a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f952b7a48444c8" /><Relationship Type="http://schemas.openxmlformats.org/officeDocument/2006/relationships/notesSlide" Target="/ppt/notesSlides/notesSlide4.xml" Id="R9b73f80432864e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4e8472695845d5" /><Relationship Type="http://schemas.openxmlformats.org/officeDocument/2006/relationships/notesSlide" Target="/ppt/notesSlides/notesSlide5.xml" Id="Red0b8435f4594d8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9d7e1480444e9b" /><Relationship Type="http://schemas.openxmlformats.org/officeDocument/2006/relationships/notesSlide" Target="/ppt/notesSlides/notesSlide6.xml" Id="Re7cd2dd9d5fc40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c9c0ff02184951" /><Relationship Type="http://schemas.openxmlformats.org/officeDocument/2006/relationships/notesSlide" Target="/ppt/notesSlides/notesSlide7.xml" Id="Rd1efd364c663498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b5773bdf46497e" /><Relationship Type="http://schemas.openxmlformats.org/officeDocument/2006/relationships/notesSlide" Target="/ppt/notesSlides/notesSlide8.xml" Id="R45c95de66405492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1ef6936b5a49a7" /><Relationship Type="http://schemas.openxmlformats.org/officeDocument/2006/relationships/notesSlide" Target="/ppt/notesSlides/notesSlide9.xml" Id="R2036b84657d44e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797219-1160-49E4-96DA-BB93B6B0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5866"/>
                </a:solidFill>
              </a:defRPr>
            </a:pPr>
            <a:r>
              <a:rPr sz="1200" b="1">
                <a:solidFill>
                  <a:srgbClr val="525866"/>
                </a:solidFill>
              </a:rPr>
              <a:t>产品宣传资料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561644-AFB8-416B-AD7C-5384C4AA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000000"/>
                </a:solidFill>
              </a:defRPr>
            </a:pPr>
            <a:r>
              <a:rPr sz="5400" b="1">
                <a:solidFill>
                  <a:srgbClr val="000000"/>
                </a:solidFill>
              </a:rPr>
              <a:t>ShopMate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CA3C61-A62C-4D48-947F-A4338540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智能客服与运营 Agent 平台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74C73D-6839-4BF2-84B8-F06863B7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57550"/>
            <a:ext cx="619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5866"/>
                </a:solidFill>
              </a:defRPr>
            </a:pPr>
            <a:r>
              <a:rPr sz="1800" b="0">
                <a:solidFill>
                  <a:srgbClr val="525866"/>
                </a:solidFill>
              </a:rPr>
              <a:t>把客户咨询、商品知识、企微客服与后台运营任务统一到一个可管控的 AI 工作台。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512A25-1EFA-49D5-BE41-3E414679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43000"/>
            <a:ext cx="31432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287675-5819-46C3-8797-776BE874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76400"/>
            <a:ext cx="238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会回答</a:t>
            </a:r>
          </a:p>
          <a:p xmlns:a="http://schemas.openxmlformats.org/drawingml/2006/main">
            <a:pPr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会检索</a:t>
            </a:r>
          </a:p>
          <a:p xmlns:a="http://schemas.openxmlformats.org/drawingml/2006/main">
            <a:pPr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会沉淀</a:t>
            </a:r>
          </a:p>
          <a:p xmlns:a="http://schemas.openxmlformats.org/drawingml/2006/main">
            <a:pPr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会执行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D43883-AD17-4832-998E-263A98A1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0F0E01-FF30-4C06-B1B2-CC3BFFCA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5866"/>
                </a:solidFill>
              </a:defRPr>
            </a:pPr>
            <a:r>
              <a:rPr sz="1350" b="0">
                <a:solidFill>
                  <a:srgbClr val="525866"/>
                </a:solidFill>
              </a:rPr>
              <a:t>适用于电商店铺、品牌私域团队、客服与运营负责人</a:t>
            </a:r>
          </a:p>
        </p:txBody>
      </p:sp>
    </p:spTree>
    <p:extLst>
      <p:ext uri="{BB962C8B-B14F-4D97-AF65-F5344CB8AC3E}">
        <p14:creationId xmlns:p14="http://schemas.microsoft.com/office/powerpoint/2010/main" val="4877426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F857DC-D317-48F4-BE21-03F5D206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5866"/>
                </a:solidFill>
              </a:defRPr>
            </a:pPr>
            <a:r>
              <a:rPr sz="1200" b="1">
                <a:solidFill>
                  <a:srgbClr val="525866"/>
                </a:solidFill>
              </a:rPr>
              <a:t>ShopMate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66AF9A-B11D-49CB-B51E-B36D27BE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客服与运营的断点，正在变成增长成本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39BC7B-8110-4A0B-8DF9-41B6B619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2857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3C2675-7D17-4489-9437-68791288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回复不稳定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A178E3-91FA-474E-B46C-B0917126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28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5866"/>
                </a:solidFill>
              </a:defRPr>
            </a:pPr>
            <a:r>
              <a:rPr sz="1500" b="0">
                <a:solidFill>
                  <a:srgbClr val="525866"/>
                </a:solidFill>
              </a:rPr>
              <a:t>依赖个人经验，新人熟练度直接影响客户体验。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F1E2D6-9E9A-4CF3-B71B-850A9F16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24100"/>
            <a:ext cx="2857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D814DD-1E5F-467A-9AE3-8323D5A6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86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资料难维护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D4FCF0-6FDF-4B93-B7F1-CC8E0ECF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95650"/>
            <a:ext cx="228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5866"/>
                </a:solidFill>
              </a:defRPr>
            </a:pPr>
            <a:r>
              <a:rPr sz="1500" b="0">
                <a:solidFill>
                  <a:srgbClr val="525866"/>
                </a:solidFill>
              </a:rPr>
              <a:t>商品、链接、库存和卖点分散，客服容易答错。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CBED75-93AD-4695-BEA2-F3FB37C2F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24100"/>
            <a:ext cx="2857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B1089A-01D6-4C51-B316-7AE68209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86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后台任务重复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17BF00-1FAA-4E19-B645-AA19BE257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95650"/>
            <a:ext cx="228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5866"/>
                </a:solidFill>
              </a:defRPr>
            </a:pPr>
            <a:r>
              <a:rPr sz="1500" b="0">
                <a:solidFill>
                  <a:srgbClr val="525866"/>
                </a:solidFill>
              </a:rPr>
              <a:t>FAQ、商品录入、数据检查和内容整理消耗运营时间。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F77584-BD5C-4941-9B0D-AECC3337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914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如果不能把经验沉淀成流程，团队越忙，错误和重复劳动越多。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6EB201-42B0-4F9E-923F-2CB7D835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5866"/>
                </a:solidFill>
              </a:defRPr>
            </a:pPr>
            <a:r>
              <a:rPr sz="975" b="0">
                <a:solidFill>
                  <a:srgbClr val="525866"/>
                </a:solidFill>
              </a:rPr>
              <a:t>智能客服与运营 Agent 平台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4F9888-E8B1-4994-B487-5AB4C43C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866"/>
                </a:solidFill>
              </a:defRPr>
            </a:pPr>
            <a:r>
              <a:rPr sz="975" b="0">
                <a:solidFill>
                  <a:srgbClr val="525866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0449888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C348C5-BC53-420D-8094-577A9FF0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5866"/>
                </a:solidFill>
              </a:defRPr>
            </a:pPr>
            <a:r>
              <a:rPr sz="1200" b="1">
                <a:solidFill>
                  <a:srgbClr val="525866"/>
                </a:solidFill>
              </a:rPr>
              <a:t>ShopMate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B246A5-C7FA-4404-B212-C667A822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ShopMate AI 把对话与执行放进同一个工作台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CF1BF5-CFEE-4EAB-B563-215ED7F7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5866"/>
                </a:solidFill>
              </a:defRPr>
            </a:pPr>
            <a:r>
              <a:rPr sz="1800" b="0">
                <a:solidFill>
                  <a:srgbClr val="525866"/>
                </a:solidFill>
              </a:rPr>
              <a:t>一套系统同时服务客户侧与运营侧：前台负责可信回答，后台负责资料沉淀与任务执行。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77B84A-43E9-4C9F-AB5A-A2459AC4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4286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0E8B2E-374D-47FF-BCA9-306A80B2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956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智能客服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3EE708-3928-4DFE-93FA-09A0781B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575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5866"/>
                </a:solidFill>
              </a:defRPr>
            </a:pPr>
            <a:r>
              <a:rPr sz="1350" b="0">
                <a:solidFill>
                  <a:srgbClr val="525866"/>
                </a:solidFill>
              </a:rPr>
              <a:t>识别意图，基于本店商品和知识自然回复。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45F297-D7F4-426F-8566-E009DD01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705100"/>
            <a:ext cx="4286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8F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F1751A-3B9A-45FA-A76C-E2358106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956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客服 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6CD1D0-D370-43C0-83F7-85186898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575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5866"/>
                </a:solidFill>
              </a:defRPr>
            </a:pPr>
            <a:r>
              <a:rPr sz="1350" b="0">
                <a:solidFill>
                  <a:srgbClr val="525866"/>
                </a:solidFill>
              </a:rPr>
              <a:t>内部调用搜索和知识工具，结果不足时继续检索。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6EFBEA-CC15-4171-A27E-4BC3E7DC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4286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8F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F5C4CA-C39E-4077-BFB4-938AACD0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243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运营 Agent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EBB799-1E23-49BE-BE01-AB97A5D4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863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5866"/>
                </a:solidFill>
              </a:defRPr>
            </a:pPr>
            <a:r>
              <a:rPr sz="1350" b="0">
                <a:solidFill>
                  <a:srgbClr val="525866"/>
                </a:solidFill>
              </a:rPr>
              <a:t>通过工具循环执行商品、知识和数据类后台任务。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EE6340-4014-4B42-A61D-8F88B5AF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133850"/>
            <a:ext cx="4286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C97DCE-28EF-480F-9893-77D080C0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243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企微接入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F12CBD-6641-45F8-9B37-BC124AE5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6863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5866"/>
                </a:solidFill>
              </a:defRPr>
            </a:pPr>
            <a:r>
              <a:rPr sz="1350" b="0">
                <a:solidFill>
                  <a:srgbClr val="525866"/>
                </a:solidFill>
              </a:rPr>
              <a:t>支持企业微信客服与 AI Bot 长连接。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381CFB-0D0C-4FE7-AA0D-043B71BF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5866"/>
                </a:solidFill>
              </a:defRPr>
            </a:pPr>
            <a:r>
              <a:rPr sz="975" b="0">
                <a:solidFill>
                  <a:srgbClr val="525866"/>
                </a:solidFill>
              </a:rPr>
              <a:t>智能客服与运营 Agent 平台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19E538-9061-46C2-929A-11D48D97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866"/>
                </a:solidFill>
              </a:defRPr>
            </a:pPr>
            <a:r>
              <a:rPr sz="975" b="0">
                <a:solidFill>
                  <a:srgbClr val="525866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2416241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5448D1-676F-4B77-B1B3-16C05BBE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5866"/>
                </a:solidFill>
              </a:defRPr>
            </a:pPr>
            <a:r>
              <a:rPr sz="1200" b="1">
                <a:solidFill>
                  <a:srgbClr val="525866"/>
                </a:solidFill>
              </a:rPr>
              <a:t>ShopMate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21BA0C-2572-4FC8-A170-8F7E60FD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客服 Agent 让“搜索”成为内部动作，而不是话术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184FD2-C134-4DF0-A7A7-4176E020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1524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F"/>
          </a:solidFill>
          <a:ln xmlns:a="http://schemas.openxmlformats.org/drawingml/2006/main" w="9525">
            <a:solidFill>
              <a:srgbClr val="93A4B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6871E0-D615-404E-9085-6CDD9315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67025"/>
            <a:ext cx="1181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用户问题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10677E-687B-4C56-B2C5-011B48006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1462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3A4B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AE4474-2DD3-4BF0-91C6-248CC210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67025"/>
            <a:ext cx="1466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判断下一步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58B806-0308-4731-B512-92BFCB11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52625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8F1"/>
          </a:solidFill>
          <a:ln xmlns:a="http://schemas.openxmlformats.org/drawingml/2006/main" w="9525">
            <a:solidFill>
              <a:srgbClr val="93A4B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402015-728C-4A80-99FF-63199D8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05025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查店内知识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E39ACC-464C-4786-A25A-6B91FB29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76625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8F1"/>
          </a:solidFill>
          <a:ln xmlns:a="http://schemas.openxmlformats.org/drawingml/2006/main" w="9525">
            <a:solidFill>
              <a:srgbClr val="93A4B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A6C696-C25E-45E1-AB30-5C52A3E2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29025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查公开网页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D97A97-8E82-42B2-9ACA-F69DAEC9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1462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93A4B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76F3F1-E7BF-4EE0-B76F-3D3B47D5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67025"/>
            <a:ext cx="1466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充分答案</a:t>
            </a:r>
          </a:p>
        </p:txBody>
      </p:sp>
      <p:cxnSp>
        <p:nvCxnSpPr>
          <p:cNvPr id="37" name=""/>
          <p:cNvCxnSpPr>
            <a:stCxn xmlns:a="http://schemas.openxmlformats.org/drawingml/2006/main" id="5" idx="1"/>
            <a:endCxn xmlns:a="http://schemas.openxmlformats.org/drawingml/2006/main" id="3" idx="3"/>
          </p:cNvCxnSpPr>
          <p:nvPr/>
        </p:nvCxnSpPr>
        <p:spPr>
          <a:xfrm xmlns:a="http://schemas.openxmlformats.org/drawingml/2006/main" flipH="1">
            <a:off x="2381250" y="3143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headEnd type="arrow" w="med" len="med"/>
          </a:ln>
        </p:spPr>
      </p:cxnSp>
      <p:cxnSp>
        <p:nvCxnSpPr>
          <p:cNvPr id="38" name=""/>
          <p:cNvCxnSpPr>
            <a:stCxn xmlns:a="http://schemas.openxmlformats.org/drawingml/2006/main" id="7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4953000" y="2343150"/>
            <a:ext cx="857250" cy="800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headEnd type="arrow" w="med" len="med"/>
          </a:ln>
        </p:spPr>
      </p:cxnSp>
      <p:cxnSp>
        <p:nvCxnSpPr>
          <p:cNvPr id="39" name=""/>
          <p:cNvCxnSpPr>
            <a:stCxn xmlns:a="http://schemas.openxmlformats.org/drawingml/2006/main" id="9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 flipV="1">
            <a:off x="4953000" y="3143250"/>
            <a:ext cx="857250" cy="723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headEnd type="arrow" w="med" len="med"/>
          </a:ln>
        </p:spPr>
      </p:cxnSp>
      <p:cxnSp>
        <p:nvCxnSpPr>
          <p:cNvPr id="40" name=""/>
          <p:cNvCxnSpPr>
            <a:stCxn xmlns:a="http://schemas.openxmlformats.org/drawingml/2006/main" id="11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 flipV="1">
            <a:off x="7810500" y="2343150"/>
            <a:ext cx="952500" cy="800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headEnd type="arrow" w="med" len="med"/>
          </a:ln>
        </p:spPr>
      </p:cxnSp>
      <p:cxnSp>
        <p:nvCxnSpPr>
          <p:cNvPr id="41" name=""/>
          <p:cNvCxnSpPr>
            <a:stCxn xmlns:a="http://schemas.openxmlformats.org/drawingml/2006/main" id="11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7810500" y="3143250"/>
            <a:ext cx="952500" cy="723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head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A68156-0289-48FE-9C0F-B3222D5F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工具执行过程不暴露给客户；客户看到的是自然、可信、边界清晰的客服回复。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61AB38-D8AD-449C-8847-A602CFA6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768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F9D8B0-55D6-4812-82B5-EF81E55E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67350"/>
            <a:ext cx="906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本店商品、价格、库存和售后规则以本地资料为准。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62CFB4-D2BA-4423-AC15-AB2ADBF3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197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359D35-D03A-44E6-9345-4E542411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810250"/>
            <a:ext cx="906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公开信息、博主榜单和第三方评价可联网检索；结果不足时继续换方向。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92E6B4-448C-41D8-BE45-74E8B1DC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5866"/>
                </a:solidFill>
              </a:defRPr>
            </a:pPr>
            <a:r>
              <a:rPr sz="975" b="0">
                <a:solidFill>
                  <a:srgbClr val="525866"/>
                </a:solidFill>
              </a:rPr>
              <a:t>智能客服与运营 Agent 平台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32E8D6-85F0-4CA8-A37E-CDD6D2AD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866"/>
                </a:solidFill>
              </a:defRPr>
            </a:pPr>
            <a:r>
              <a:rPr sz="975" b="0">
                <a:solidFill>
                  <a:srgbClr val="525866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086537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F50133-0278-4502-9785-33163ED3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5866"/>
                </a:solidFill>
              </a:defRPr>
            </a:pPr>
            <a:r>
              <a:rPr sz="1200" b="1">
                <a:solidFill>
                  <a:srgbClr val="525866"/>
                </a:solidFill>
              </a:rPr>
              <a:t>ShopMate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909AFF-26BE-4498-BD0D-B8F3CA59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运营 Agent 把后台任务变成可追踪的工具执行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5FCD61-823B-4EE5-8AAB-EC8C876F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Skill 机制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058A98-3EAE-413A-95B9-A5CDBC69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5866"/>
                </a:solidFill>
              </a:defRPr>
            </a:pPr>
            <a:r>
              <a:rPr sz="1425" b="0">
                <a:solidFill>
                  <a:srgbClr val="525866"/>
                </a:solidFill>
              </a:rPr>
              <a:t>挂载专用写作、资料整理或运营流程能力包。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DB4708-5AC2-4A97-9111-E1E9A58C5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A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DC95B4-FE49-4C7E-96A1-F5BBA8EC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工具策略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5D0CAE-9080-482A-B12F-0E9A9D74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5866"/>
                </a:solidFill>
              </a:defRPr>
            </a:pPr>
            <a:r>
              <a:rPr sz="1425" b="0">
                <a:solidFill>
                  <a:srgbClr val="525866"/>
                </a:solidFill>
              </a:rPr>
              <a:t>preferred / required / forbidden 约束工具使用。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8C7A3E-D490-4220-B856-364CED33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5290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A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5F4FB3-7D63-4080-896E-346A4603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风险确认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AEAF05-7D8C-4D36-AD77-63FE3B6E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5866"/>
                </a:solidFill>
              </a:defRPr>
            </a:pPr>
            <a:r>
              <a:rPr sz="1425" b="0">
                <a:solidFill>
                  <a:srgbClr val="525866"/>
                </a:solidFill>
              </a:rPr>
              <a:t>删除商品、删除知识库等高风险动作必须确认。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2A6F80-9ED7-41A7-910E-505BCF47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5305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A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2E7814-6213-4918-8095-C81FA344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09750"/>
            <a:ext cx="4381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E4D5D5-D49B-4E31-BA54-E5160B64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336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LangGraph 循环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955C83-AAF0-4279-B741-BDB63FDB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241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agentNode → toolsNode → agentNode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0CB02F-09E5-4D27-BABC-D63D09D5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90900"/>
            <a:ext cx="342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5866"/>
                </a:solidFill>
              </a:defRPr>
            </a:pPr>
            <a:r>
              <a:rPr sz="1500" b="0">
                <a:solidFill>
                  <a:srgbClr val="525866"/>
                </a:solidFill>
              </a:rPr>
              <a:t>每次工具调用都会形成 trace 和 tool result，最终写入 agent_tasks 与 tool_call_logs。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5CBA2F-F0E7-47D7-9734-0CE65EA3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5866"/>
                </a:solidFill>
              </a:defRPr>
            </a:pPr>
            <a:r>
              <a:rPr sz="975" b="0">
                <a:solidFill>
                  <a:srgbClr val="525866"/>
                </a:solidFill>
              </a:rPr>
              <a:t>智能客服与运营 Agent 平台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CE0CDE-2314-4CF3-BEB5-753DDA444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866"/>
                </a:solidFill>
              </a:defRPr>
            </a:pPr>
            <a:r>
              <a:rPr sz="975" b="0">
                <a:solidFill>
                  <a:srgbClr val="525866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7771347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2FA86E-EEF0-417E-AFAC-5F3594AC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5866"/>
                </a:solidFill>
              </a:defRPr>
            </a:pPr>
            <a:r>
              <a:rPr sz="1200" b="1">
                <a:solidFill>
                  <a:srgbClr val="525866"/>
                </a:solidFill>
              </a:rPr>
              <a:t>ShopMate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E7942E-892B-4848-8140-D4C5B06E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系统架构分成两条主线：客服回答与运营执行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2CB9CE-F041-42F8-90D8-D707FECB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F"/>
          </a:solidFill>
          <a:ln xmlns:a="http://schemas.openxmlformats.org/drawingml/2006/main" w="9525">
            <a:solidFill>
              <a:srgbClr val="93A4B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02650B-DCC6-4C2E-A786-71D54D8D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1276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客户入口</a:t>
            </a:r>
          </a:p>
          <a:p xmlns:a="http://schemas.openxmlformats.org/drawingml/2006/main">
            <a:pPr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Web / 企微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A29139-6053-455B-A162-2BA7F973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4790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3A4B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702D74-3F10-4108-BFF3-02FA5A19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00300"/>
            <a:ext cx="1466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客服编排</a:t>
            </a:r>
          </a:p>
          <a:p xmlns:a="http://schemas.openxmlformats.org/drawingml/2006/main">
            <a:pPr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chatService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9A1DB6-6B48-400D-BEA2-7BB1504D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247900"/>
            <a:ext cx="190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8F1"/>
          </a:solidFill>
          <a:ln xmlns:a="http://schemas.openxmlformats.org/drawingml/2006/main" w="9525">
            <a:solidFill>
              <a:srgbClr val="93A4B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CB06F8-25C3-4F13-B2FC-C655A8A7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00300"/>
            <a:ext cx="1562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客服 Agent</a:t>
            </a:r>
          </a:p>
          <a:p xmlns:a="http://schemas.openxmlformats.org/drawingml/2006/main">
            <a:pPr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搜索 + 知识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A63051-2287-46C8-8D1B-49694981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4790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93A4B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1DF5B3-A39B-4B3D-ABC3-0EAE145D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00300"/>
            <a:ext cx="1466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LLM / 搜索</a:t>
            </a:r>
          </a:p>
          <a:p xmlns:a="http://schemas.openxmlformats.org/drawingml/2006/main">
            <a:pPr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Embedding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790B6D-D1AA-4B82-B39C-F22B46AD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F"/>
          </a:solidFill>
          <a:ln xmlns:a="http://schemas.openxmlformats.org/drawingml/2006/main" w="9525">
            <a:solidFill>
              <a:srgbClr val="93A4B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DEB078-D2C6-4492-8069-5A94CFA9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8150"/>
            <a:ext cx="1276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运营入口</a:t>
            </a:r>
          </a:p>
          <a:p xmlns:a="http://schemas.openxmlformats.org/drawingml/2006/main">
            <a:pPr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后台控制台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1FD36A-CD16-4FA3-BB39-8AF3A026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0957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3A4B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068BE3-DADD-4498-8ABC-659836AE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48150"/>
            <a:ext cx="1466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运营 Agent</a:t>
            </a:r>
          </a:p>
          <a:p xmlns:a="http://schemas.openxmlformats.org/drawingml/2006/main">
            <a:pPr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LangGraph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BBCFC6-FB29-45F1-8FF5-E4080911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095750"/>
            <a:ext cx="190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8F1"/>
          </a:solidFill>
          <a:ln xmlns:a="http://schemas.openxmlformats.org/drawingml/2006/main" w="9525">
            <a:solidFill>
              <a:srgbClr val="93A4B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8A5C0E-700A-4CB7-8D55-698E8CC4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248150"/>
            <a:ext cx="1562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后台工具</a:t>
            </a:r>
          </a:p>
          <a:p xmlns:a="http://schemas.openxmlformats.org/drawingml/2006/main">
            <a:pPr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商品 / 知识 / 命令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AB24EE-1D6E-4D84-A03B-5A5B8ECF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957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93A4B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42FDB4-3BB0-43DD-B500-439C2ADDE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248150"/>
            <a:ext cx="2038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SQLite 数据底座</a:t>
            </a:r>
          </a:p>
          <a:p xmlns:a="http://schemas.openxmlformats.org/drawingml/2006/main">
            <a:pPr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会话 / 商品 / 日志 / Skill</a:t>
            </a:r>
          </a:p>
        </p:txBody>
      </p:sp>
      <p:cxnSp>
        <p:nvCxnSpPr>
          <p:cNvPr id="46" name=""/>
          <p:cNvCxnSpPr>
            <a:stCxn xmlns:a="http://schemas.openxmlformats.org/drawingml/2006/main" id="5" idx="1"/>
            <a:endCxn xmlns:a="http://schemas.openxmlformats.org/drawingml/2006/main" id="3" idx="3"/>
          </p:cNvCxnSpPr>
          <p:nvPr/>
        </p:nvCxnSpPr>
        <p:spPr>
          <a:xfrm xmlns:a="http://schemas.openxmlformats.org/drawingml/2006/main" flipH="1">
            <a:off x="2362200" y="2686050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headEnd type="arrow" w="med" len="med"/>
          </a:ln>
        </p:spPr>
      </p:cxnSp>
      <p:cxnSp>
        <p:nvCxnSpPr>
          <p:cNvPr id="47" name=""/>
          <p:cNvCxnSpPr>
            <a:stCxn xmlns:a="http://schemas.openxmlformats.org/drawingml/2006/main" id="7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4876800" y="2686050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headEnd type="arrow" w="med" len="med"/>
          </a:ln>
        </p:spPr>
      </p:cxnSp>
      <p:cxnSp>
        <p:nvCxnSpPr>
          <p:cNvPr id="48" name=""/>
          <p:cNvCxnSpPr>
            <a:stCxn xmlns:a="http://schemas.openxmlformats.org/drawingml/2006/main" id="9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7562850" y="26860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headEnd type="arrow" w="med" len="med"/>
          </a:ln>
        </p:spPr>
      </p:cxnSp>
      <p:cxnSp>
        <p:nvCxnSpPr>
          <p:cNvPr id="49" name=""/>
          <p:cNvCxnSpPr>
            <a:stCxn xmlns:a="http://schemas.openxmlformats.org/drawingml/2006/main" id="13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2362200" y="4533900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headEnd type="arrow" w="med" len="med"/>
          </a:ln>
        </p:spPr>
      </p:cxnSp>
      <p:cxnSp>
        <p:nvCxnSpPr>
          <p:cNvPr id="50" name=""/>
          <p:cNvCxnSpPr>
            <a:stCxn xmlns:a="http://schemas.openxmlformats.org/drawingml/2006/main" id="15" idx="1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H="1">
            <a:off x="4876800" y="4533900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headEnd type="arrow" w="med" len="med"/>
          </a:ln>
        </p:spPr>
      </p:cxnSp>
      <p:cxnSp>
        <p:nvCxnSpPr>
          <p:cNvPr id="51" name=""/>
          <p:cNvCxnSpPr>
            <a:stCxn xmlns:a="http://schemas.openxmlformats.org/drawingml/2006/main" id="17" idx="1"/>
            <a:endCxn xmlns:a="http://schemas.openxmlformats.org/drawingml/2006/main" id="15" idx="3"/>
          </p:cNvCxnSpPr>
          <p:nvPr/>
        </p:nvCxnSpPr>
        <p:spPr>
          <a:xfrm xmlns:a="http://schemas.openxmlformats.org/drawingml/2006/main" flipH="1">
            <a:off x="7562850" y="45339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headEnd type="arrow" w="med" len="med"/>
          </a:ln>
        </p:spPr>
      </p:cxnSp>
      <p:cxnSp>
        <p:nvCxnSpPr>
          <p:cNvPr id="52" name=""/>
          <p:cNvCxnSpPr>
            <a:stCxn xmlns:a="http://schemas.openxmlformats.org/drawingml/2006/main" id="17" idx="0"/>
            <a:endCxn xmlns:a="http://schemas.openxmlformats.org/drawingml/2006/main" id="7" idx="2"/>
          </p:cNvCxnSpPr>
          <p:nvPr/>
        </p:nvCxnSpPr>
        <p:spPr>
          <a:xfrm xmlns:a="http://schemas.openxmlformats.org/drawingml/2006/main" flipH="1" flipV="1">
            <a:off x="6610350" y="3124200"/>
            <a:ext cx="3000375" cy="971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headEnd type="arrow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2C9489-2A89-464C-86C8-D6B2AE84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5866"/>
                </a:solidFill>
              </a:defRPr>
            </a:pPr>
            <a:r>
              <a:rPr sz="975" b="0">
                <a:solidFill>
                  <a:srgbClr val="525866"/>
                </a:solidFill>
              </a:rPr>
              <a:t>智能客服与运营 Agent 平台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3F00E1-5C40-47C9-9812-F1888A36D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866"/>
                </a:solidFill>
              </a:defRPr>
            </a:pPr>
            <a:r>
              <a:rPr sz="975" b="0">
                <a:solidFill>
                  <a:srgbClr val="525866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4443400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3DFBD1-BCDD-4927-9BFD-64F71408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5866"/>
                </a:solidFill>
              </a:defRPr>
            </a:pPr>
            <a:r>
              <a:rPr sz="1200" b="1">
                <a:solidFill>
                  <a:srgbClr val="525866"/>
                </a:solidFill>
              </a:rPr>
              <a:t>ShopMate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62BA3C-0860-4354-9ACE-086A6A2A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最先落地的场景，集中在高频问答和资料沉淀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33AF2-87AB-46E1-BFD9-AF54E752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57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2EDFCA-5CE1-40A6-8989-14ED7F13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621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私域客服自动回复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608BE1-6A3C-4E96-87A4-0CBD58C7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9621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5866"/>
                </a:solidFill>
              </a:defRPr>
            </a:pPr>
            <a:r>
              <a:rPr sz="1275" b="0">
                <a:solidFill>
                  <a:srgbClr val="525866"/>
                </a:solidFill>
              </a:rPr>
              <a:t>减少重复问答，保留人工接管。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4675D6-9E8F-4D4B-881C-05D7EE6D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09750"/>
            <a:ext cx="457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C47739-C1D4-4506-9171-9F428EA0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621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商品资料智能推荐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9A94C0-D92B-4448-8089-7E06D8365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621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5866"/>
                </a:solidFill>
              </a:defRPr>
            </a:pPr>
            <a:r>
              <a:rPr sz="1275" b="0">
                <a:solidFill>
                  <a:srgbClr val="525866"/>
                </a:solidFill>
              </a:rPr>
              <a:t>客户问适合什么、有没有链接时，基于真实商品库回答。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44D005-1FCE-44F1-AEFD-0FF20294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57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02AAAC-5428-4BAC-989F-64BC8E35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623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售后与投诉分流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D82E18-A5AE-4468-9459-6D73060B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623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5866"/>
                </a:solidFill>
              </a:defRPr>
            </a:pPr>
            <a:r>
              <a:rPr sz="1275" b="0">
                <a:solidFill>
                  <a:srgbClr val="525866"/>
                </a:solidFill>
              </a:rPr>
              <a:t>严重问题优先安抚，收集订单和照片。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A09446-22B0-49E7-AFA0-E1B4053E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09900"/>
            <a:ext cx="457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235459-8739-431B-8DB0-138DE323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623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知识库沉淀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C76AFF-471C-4267-96E4-71C7ECE2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623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5866"/>
                </a:solidFill>
              </a:defRPr>
            </a:pPr>
            <a:r>
              <a:rPr sz="1275" b="0">
                <a:solidFill>
                  <a:srgbClr val="525866"/>
                </a:solidFill>
              </a:rPr>
              <a:t>把高频问题转成待审核 FAQ。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9E453E-6CA3-4543-AB77-84132D0C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57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E8BDBA-83EB-47D1-B86A-E99C823D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624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运营资料生成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D3D3D9-1A2A-4EBF-99A7-E3C9B070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3624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5866"/>
                </a:solidFill>
              </a:defRPr>
            </a:pPr>
            <a:r>
              <a:rPr sz="1275" b="0">
                <a:solidFill>
                  <a:srgbClr val="525866"/>
                </a:solidFill>
              </a:rPr>
              <a:t>用 Skill 生成文章、方案、复盘或内部资料。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536975-3BA1-4834-ABCE-86E22D08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10050"/>
            <a:ext cx="457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C04A22-7D20-480B-B2EE-C0CA9797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624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企微客服接入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B4DEF9-B1E3-43A7-8A2A-854B671A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624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5866"/>
                </a:solidFill>
              </a:defRPr>
            </a:pPr>
            <a:r>
              <a:rPr sz="1275" b="0">
                <a:solidFill>
                  <a:srgbClr val="525866"/>
                </a:solidFill>
              </a:rPr>
              <a:t>将企业微信消息纳入统一会话体系。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56DA8D-63EF-46E8-A8B8-119CE1E0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5866"/>
                </a:solidFill>
              </a:defRPr>
            </a:pPr>
            <a:r>
              <a:rPr sz="975" b="0">
                <a:solidFill>
                  <a:srgbClr val="525866"/>
                </a:solidFill>
              </a:rPr>
              <a:t>智能客服与运营 Agent 平台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6D4135-9329-437E-9AB6-CB6F81C8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866"/>
                </a:solidFill>
              </a:defRPr>
            </a:pPr>
            <a:r>
              <a:rPr sz="975" b="0">
                <a:solidFill>
                  <a:srgbClr val="525866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3394205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0C3284-8CFA-4940-86A5-EE456A73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5866"/>
                </a:solidFill>
              </a:defRPr>
            </a:pPr>
            <a:r>
              <a:rPr sz="1200" b="1">
                <a:solidFill>
                  <a:srgbClr val="525866"/>
                </a:solidFill>
              </a:rPr>
              <a:t>ShopMate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EDDD9A-A953-4E89-9C0C-FCBD818B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推荐从资料准备和灰度客服开始落地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80FBCD-1254-479E-ABCD-6535D956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600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764A22-8F2A-4950-AE18-CCE16273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289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C6BD3B-1958-4158-88DE-FF8594B5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准备资料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38FEB3-F2FE-4131-BE33-8F98A5A7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719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5866"/>
                </a:solidFill>
              </a:defRPr>
            </a:pPr>
            <a:r>
              <a:rPr sz="1200" b="0">
                <a:solidFill>
                  <a:srgbClr val="525866"/>
                </a:solidFill>
              </a:rPr>
              <a:t>商品、链接、库存、售后规则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63507A-14A1-4ED6-BA15-50F752D6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857500"/>
            <a:ext cx="1600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386192-7406-45A0-A184-DB25D9C8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289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F2D070-2DAF-48F8-B063-1266AD3D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90900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配置能力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D89513-BEE7-48B2-9C72-D7AF1B4B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7719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5866"/>
                </a:solidFill>
              </a:defRPr>
            </a:pPr>
            <a:r>
              <a:rPr sz="1200" b="0">
                <a:solidFill>
                  <a:srgbClr val="525866"/>
                </a:solidFill>
              </a:rPr>
              <a:t>模型、搜索、企微参数</a:t>
            </a:r>
          </a:p>
        </p:txBody>
      </p:sp>
      <p:cxnSp>
        <p:nvCxnSpPr>
          <p:cNvPr id="40" name=""/>
          <p:cNvCxnSpPr>
            <a:stCxn xmlns:a="http://schemas.openxmlformats.org/drawingml/2006/main" id="7" idx="1"/>
            <a:endCxn xmlns:a="http://schemas.openxmlformats.org/drawingml/2006/main" id="3" idx="3"/>
          </p:cNvCxnSpPr>
          <p:nvPr/>
        </p:nvCxnSpPr>
        <p:spPr>
          <a:xfrm xmlns:a="http://schemas.openxmlformats.org/drawingml/2006/main" flipH="1">
            <a:off x="2324100" y="35718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headEnd type="arrow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D19C16-B5C4-418D-A8F2-BB3BEAEE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57500"/>
            <a:ext cx="1600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D3D22E-79F5-4012-8CC2-C1064728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289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8FEBC7-B0CC-41E0-AA36-1BBAA4FB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90900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导入知识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D63535-A483-479F-AB13-4D7300E6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7719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5866"/>
                </a:solidFill>
              </a:defRPr>
            </a:pPr>
            <a:r>
              <a:rPr sz="1200" b="0">
                <a:solidFill>
                  <a:srgbClr val="525866"/>
                </a:solidFill>
              </a:rPr>
              <a:t>覆盖高频商品与售后 FAQ</a:t>
            </a:r>
          </a:p>
        </p:txBody>
      </p:sp>
      <p:cxnSp>
        <p:nvCxnSpPr>
          <p:cNvPr id="45" name=""/>
          <p:cNvCxnSpPr>
            <a:stCxn xmlns:a="http://schemas.openxmlformats.org/drawingml/2006/main" id="12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4438650" y="35718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head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8A215B-F605-443F-936A-77874B98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57500"/>
            <a:ext cx="1600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9ED4B4-AB79-4A13-BF50-2892E9FC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289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5F6DEC-DA8E-4C98-ABC4-247E7D81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90900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灰度启用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EF9B26-6ECD-4920-B29F-0CFF4234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719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5866"/>
                </a:solidFill>
              </a:defRPr>
            </a:pPr>
            <a:r>
              <a:rPr sz="1200" b="0">
                <a:solidFill>
                  <a:srgbClr val="525866"/>
                </a:solidFill>
              </a:rPr>
              <a:t>Web Chat 或少量企微会话试运行</a:t>
            </a:r>
          </a:p>
        </p:txBody>
      </p:sp>
      <p:cxnSp>
        <p:nvCxnSpPr>
          <p:cNvPr id="50" name=""/>
          <p:cNvCxnSpPr>
            <a:stCxn xmlns:a="http://schemas.openxmlformats.org/drawingml/2006/main" id="17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6553200" y="35718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head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4BC7C2-E4CF-495D-8549-13CCB6B5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57500"/>
            <a:ext cx="1600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973B6A-4E00-4D59-9316-5B2B8D57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289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A81B2E-EF24-4BBB-8494-CAB8E269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90900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沉淀流程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35815E-67AA-41D3-82E4-E51109C0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7719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5866"/>
                </a:solidFill>
              </a:defRPr>
            </a:pPr>
            <a:r>
              <a:rPr sz="1200" b="0">
                <a:solidFill>
                  <a:srgbClr val="525866"/>
                </a:solidFill>
              </a:rPr>
              <a:t>将高频运营任务做成 Skill 或工具流程</a:t>
            </a:r>
          </a:p>
        </p:txBody>
      </p:sp>
      <p:cxnSp>
        <p:nvCxnSpPr>
          <p:cNvPr id="55" name=""/>
          <p:cNvCxnSpPr>
            <a:stCxn xmlns:a="http://schemas.openxmlformats.org/drawingml/2006/main" id="22" idx="1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8667750" y="35718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head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39A152-29FA-4667-80F1-7AEE4F97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先让系统答对高频问题，再逐步把运营经验沉淀成可复用流程。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7C8A09-0441-4BD3-BC98-1A899A3B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5866"/>
                </a:solidFill>
              </a:defRPr>
            </a:pPr>
            <a:r>
              <a:rPr sz="975" b="0">
                <a:solidFill>
                  <a:srgbClr val="525866"/>
                </a:solidFill>
              </a:rPr>
              <a:t>智能客服与运营 Agent 平台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0548E1-338C-49D4-B2DE-65A1F59B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866"/>
                </a:solidFill>
              </a:defRPr>
            </a:pPr>
            <a:r>
              <a:rPr sz="975" b="0">
                <a:solidFill>
                  <a:srgbClr val="525866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08982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DA8135-B44A-4544-A25A-C583DD7F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25866"/>
                </a:solidFill>
              </a:defRPr>
            </a:pPr>
            <a:r>
              <a:rPr sz="1350" b="1">
                <a:solidFill>
                  <a:srgbClr val="525866"/>
                </a:solidFill>
              </a:rPr>
              <a:t>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E06EB9-266F-42F2-A612-F6C1CF2F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72390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先用 20 个高频问题</a:t>
            </a:r>
          </a:p>
          <a:p xmlns:a="http://schemas.openxmlformats.org/drawingml/2006/main">
            <a:pPr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验证一次真实客服闭环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C77F8F-3141-48AB-A049-7221A445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5866"/>
                </a:solidFill>
              </a:defRPr>
            </a:pPr>
            <a:r>
              <a:rPr sz="1800" b="0">
                <a:solidFill>
                  <a:srgbClr val="525866"/>
                </a:solidFill>
              </a:rPr>
              <a:t>建议准备：商品资料、售后规则、企微测试入口、两类典型客户问题。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7F401C-2A6B-44D0-BC09-C4A9EF8D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428750"/>
            <a:ext cx="2857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E71447-F24B-4DD2-BCB2-C50025C5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09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演示议程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D28A34-8489-42DA-9678-A958567D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38400"/>
            <a:ext cx="2095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5866"/>
                </a:solidFill>
              </a:defRPr>
            </a:pPr>
            <a:r>
              <a:rPr sz="1500" b="0">
                <a:solidFill>
                  <a:srgbClr val="525866"/>
                </a:solidFill>
              </a:rPr>
              <a:t>1. 客服自动回复</a:t>
            </a:r>
          </a:p>
          <a:p xmlns:a="http://schemas.openxmlformats.org/drawingml/2006/main">
            <a:pPr>
              <a:defRPr sz="1500" b="0">
                <a:solidFill>
                  <a:srgbClr val="525866"/>
                </a:solidFill>
              </a:defRPr>
            </a:pPr>
            <a:r>
              <a:rPr sz="1500" b="0">
                <a:solidFill>
                  <a:srgbClr val="525866"/>
                </a:solidFill>
              </a:rPr>
              <a:t>2. 公开信息检索</a:t>
            </a:r>
          </a:p>
          <a:p xmlns:a="http://schemas.openxmlformats.org/drawingml/2006/main">
            <a:pPr>
              <a:defRPr sz="1500" b="0">
                <a:solidFill>
                  <a:srgbClr val="525866"/>
                </a:solidFill>
              </a:defRPr>
            </a:pPr>
            <a:r>
              <a:rPr sz="1500" b="0">
                <a:solidFill>
                  <a:srgbClr val="525866"/>
                </a:solidFill>
              </a:rPr>
              <a:t>3. 商品链接回答</a:t>
            </a:r>
          </a:p>
          <a:p xmlns:a="http://schemas.openxmlformats.org/drawingml/2006/main">
            <a:pPr>
              <a:defRPr sz="1500" b="0">
                <a:solidFill>
                  <a:srgbClr val="525866"/>
                </a:solidFill>
              </a:defRPr>
            </a:pPr>
            <a:r>
              <a:rPr sz="1500" b="0">
                <a:solidFill>
                  <a:srgbClr val="525866"/>
                </a:solidFill>
              </a:rPr>
              <a:t>4. 运营 Agent 执行</a:t>
            </a:r>
          </a:p>
          <a:p xmlns:a="http://schemas.openxmlformats.org/drawingml/2006/main">
            <a:pPr>
              <a:defRPr sz="1500" b="0">
                <a:solidFill>
                  <a:srgbClr val="525866"/>
                </a:solidFill>
              </a:defRPr>
            </a:pPr>
            <a:r>
              <a:rPr sz="1500" b="0">
                <a:solidFill>
                  <a:srgbClr val="525866"/>
                </a:solidFill>
              </a:rPr>
              <a:t>5. 人工接管与日志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7990C0-52CC-4922-AFCF-0255AA49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7139F6-213B-46EF-947C-5BF0638A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198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ShopMate AI | 智能客服与运营 Agent 平台</a:t>
            </a:r>
          </a:p>
        </p:txBody>
      </p:sp>
    </p:spTree>
    <p:extLst>
      <p:ext uri="{BB962C8B-B14F-4D97-AF65-F5344CB8AC3E}">
        <p14:creationId xmlns:p14="http://schemas.microsoft.com/office/powerpoint/2010/main" val="14398092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2026-08-06T09:19:33.5490000Z</dcterms:created>
  <dcterms:modified xsi:type="dcterms:W3CDTF">2026-08-06T09:19:33.5500000Z</dcterms:modified>
</coreProperties>
</file>